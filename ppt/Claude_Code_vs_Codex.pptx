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Internal Tech Talk · 内部技术分享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AI CODING TOOLS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7200" b="0">
                <a:solidFill>
                  <a:srgbClr val="FFFFFF"/>
                </a:solidFill>
                <a:latin typeface="Microsoft YaHei"/>
              </a:defRPr>
            </a:pPr>
            <a:r>
              <a:t>Claude Code</a:t>
            </a:r>
            <a:br/>
            <a:r>
              <a:t>vs Codex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73152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>
                <a:solidFill>
                  <a:srgbClr val="DDDDDD"/>
                </a:solidFill>
                <a:latin typeface="Microsoft YaHei"/>
              </a:defRPr>
            </a:pPr>
            <a:r>
              <a:t>两个 AI 编程工具的架构、哲学与工作流深度对比 · 帮助团队做出正确的选型决策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Consolas"/>
              </a:defRPr>
            </a:pPr>
            <a:r>
              <a:t>内部技术分享 ·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Overview · 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Claude Opus 4.7 / Sonnet 4.6 / Haiku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运行环境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本地 CLI · VS Code / JetBrains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发布时间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2024 年 · 持续迭代至今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核心哲学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安全优先 · 深度推理 · 人机协作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97280"/>
            <a:ext cx="12700" cy="50292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CODEX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GPT-4o / GPT-4.1 · o3 / o4-mini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运行环境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CLI · Cloud Sandbox 云端执行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发布时间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2024 年 · 持续迭代至今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核心哲学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Microsoft YaHei"/>
              </a:defRPr>
            </a:pPr>
            <a:r>
              <a:t>广度覆盖 · 多模态 · 自主执行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Consolas"/>
              </a:defRPr>
            </a:pPr>
            <a:r>
              <a:t>同一赛道 · 两种路线 · 理解差异才能做出正确选择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Key Insight · 核心洞察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同样让 AI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800" b="0">
                <a:solidFill>
                  <a:srgbClr val="5B7BFF"/>
                </a:solidFill>
                <a:latin typeface="Microsoft YaHei"/>
              </a:defRPr>
            </a:pPr>
            <a:r>
              <a:t>写代码,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800" b="0">
                <a:solidFill>
                  <a:srgbClr val="5B7BFF"/>
                </a:solidFill>
                <a:latin typeface="Microsoft YaHei"/>
              </a:defRPr>
            </a:pPr>
            <a:r>
              <a:t>底层的选择,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800" b="0">
                <a:solidFill>
                  <a:srgbClr val="FFFFFF"/>
                </a:solidFill>
                <a:latin typeface="Microsoft YaHei"/>
              </a:defRPr>
            </a:pPr>
            <a:r>
              <a:t>决定了你的</a:t>
            </a:r>
          </a:p>
          <a:p>
            <a:pPr algn="l">
              <a:lnSpc>
                <a:spcPct val="110000"/>
              </a:lnSpc>
              <a:spcAft>
                <a:spcPts val="0"/>
              </a:spcAft>
              <a:defRPr sz="4800" b="0">
                <a:solidFill>
                  <a:srgbClr val="5B7BFF"/>
                </a:solidFill>
                <a:latin typeface="Microsoft YaHei"/>
              </a:defRPr>
            </a:pPr>
            <a:r>
              <a:t>工作流.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— The tools shape the workflow, not the other way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Dimensions · 对比维度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09728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四大维度</a:t>
            </a:r>
            <a:br/>
            <a:r>
              <a:t>深度对比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50292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01 /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A0A0A"/>
                </a:solidFill>
                <a:latin typeface="Microsoft YaHei"/>
              </a:defRPr>
            </a:pPr>
            <a:r>
              <a:t>模型策略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Claude: 安全对齐 + 深度推理</a:t>
            </a:r>
            <a:br/>
            <a:r>
              <a:t>GPT: 广度覆盖 + 多模态能力</a:t>
            </a:r>
            <a:br/>
            <a:r>
              <a:t>不同的训练哲学导致不同的输出风格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651760"/>
            <a:ext cx="50292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02 / EXTEND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108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A0A0A"/>
                </a:solidFill>
                <a:latin typeface="Microsoft YaHei"/>
              </a:defRPr>
            </a:pPr>
            <a:r>
              <a:t>扩展体系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661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Claude: Skills + Hooks + MCP</a:t>
            </a:r>
            <a:br/>
            <a:r>
              <a:t>Codex: Sandbox + Plugins</a:t>
            </a:r>
            <a:br/>
            <a:r>
              <a:t>声明式配置 vs 编程式扩展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63440"/>
            <a:ext cx="50292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03 /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A0A0A"/>
                </a:solidFill>
                <a:latin typeface="Microsoft YaHei"/>
              </a:defRPr>
            </a:pPr>
            <a:r>
              <a:t>工作流哲学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Claude: Plan → Task → Memory</a:t>
            </a:r>
            <a:br/>
            <a:r>
              <a:t>Codex: Task → Agent Loop</a:t>
            </a:r>
            <a:br/>
            <a:r>
              <a:t>显式规划 vs 自主探索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663440"/>
            <a:ext cx="50292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8463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04 /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120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0A0A0A"/>
                </a:solidFill>
                <a:latin typeface="Microsoft YaHei"/>
              </a:defRPr>
            </a:pPr>
            <a:r>
              <a:t>运行环境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577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Claude: 本地终端直接执行</a:t>
            </a:r>
            <a:br/>
            <a:r>
              <a:t>Codex: 云端沙箱隔离运行</a:t>
            </a:r>
            <a:br/>
            <a:r>
              <a:t>本地控制 vs 云端安全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Evolution · 演进历程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两个工具的演进之路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5156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3749039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2024 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初始发布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3749039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2024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Skills &amp;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72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可编程扩展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749039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2025 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Plan +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显式规划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3749039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9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2025 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Memory + Worktree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4572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持久化隔离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3749039"/>
            <a:ext cx="137160" cy="1371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0A0A0A"/>
                </a:solidFill>
                <a:latin typeface="Microsoft YaHei"/>
              </a:defRPr>
            </a:pPr>
            <a:r>
              <a:t>Agent Ecosystem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Microsoft YaHei"/>
              </a:defRPr>
            </a:pPr>
            <a:r>
              <a:t>技能市场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Key Differences · 关键差异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5B7BFF"/>
                </a:solidFill>
                <a:latin typeface="Consolas"/>
              </a:defRPr>
            </a:pPr>
            <a:r>
              <a:t>SIX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200400" cy="1737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模型底座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Claude Opus/Sonnet/Haiku vs GPT-4o/o3/o4-mini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200400" cy="1737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扩展机制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Skills 声明式 + Hooks 事件驱动 vs Plugins 编程式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463040"/>
            <a:ext cx="3200400" cy="1737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规划能力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68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Plan Mode 显式架构设计 vs Agent Loop 自主分解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3200400" cy="1737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上下文持久化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Memory 跨会话记忆系统 vs Sandbox 会话级状态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474720"/>
            <a:ext cx="3200400" cy="17373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安全模型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权限分级 + 用户确认 vs 沙箱隔离 + 自动审批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474720"/>
            <a:ext cx="3200400" cy="17373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工作隔离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Git Worktree 原生支持 vs Sandbox Branch 虚拟分支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Architecture · 架构对比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THREE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两者都分三层</a:t>
            </a:r>
            <a:br/>
            <a:r>
              <a:t>但每一层都不同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73152" cy="1097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10789920" cy="10972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0">
                <a:solidFill>
                  <a:srgbClr val="002FA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A0A0A"/>
                </a:solidFill>
                <a:latin typeface="Microsoft YaHei"/>
              </a:defRPr>
            </a:pPr>
            <a:r>
              <a:t>交互层 ·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 Code: CLI + IDE 集成 · 文件级操作 · 实时终端反馈</a:t>
            </a:r>
            <a:br/>
            <a:r>
              <a:t>Codex: CLI + Web UI · 沙箱级操作 · 异步状态推送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73152" cy="1097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749039"/>
            <a:ext cx="10789920" cy="10972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0">
                <a:solidFill>
                  <a:srgbClr val="002FA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40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A0A0A"/>
                </a:solidFill>
                <a:latin typeface="Microsoft YaHei"/>
              </a:defRPr>
            </a:pPr>
            <a:r>
              <a:t>编排层 ·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 Code: Plan Mode 显式规划 · Task 跟踪 · Agent 子代理分发</a:t>
            </a:r>
            <a:br/>
            <a:r>
              <a:t>Codex: Agent Loop 自动规划 · Sandbox 任务队列 · 异步多步执行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73152" cy="1097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120640"/>
            <a:ext cx="10789920" cy="10972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0">
                <a:solidFill>
                  <a:srgbClr val="002FA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A0A0A"/>
                </a:solidFill>
                <a:latin typeface="Microsoft YaHei"/>
              </a:defRPr>
            </a:pPr>
            <a:r>
              <a:t>扩展层 ·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Claude Code: Skills + Hooks + MCP · 文件即技能 · 事件驱动</a:t>
            </a:r>
            <a:br/>
            <a:r>
              <a:t>Codex: Plugins + API · 包管理安装 · 编程式调用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Feature Matrix · 功能矩阵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002FA7"/>
                </a:solidFill>
                <a:latin typeface="Consolas"/>
              </a:defRPr>
            </a:pPr>
            <a:r>
              <a:t>FEATURES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3600" b="0">
                <a:solidFill>
                  <a:srgbClr val="0A0A0A"/>
                </a:solidFill>
                <a:latin typeface="Microsoft YaHei"/>
              </a:defRPr>
            </a:pPr>
            <a:r>
              <a:t>功能覆盖一览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Plan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Claude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Agent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Codex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跨会话记忆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Claude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01168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103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788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Codex 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SKILLS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Markdown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43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Claude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56616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657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多模态理解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43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Codex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HOOKS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事件驱动钩子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Claude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566160"/>
            <a:ext cx="2560320" cy="11887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657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00" b="0">
                <a:solidFill>
                  <a:srgbClr val="737373"/>
                </a:solidFill>
                <a:latin typeface="Consolas"/>
              </a:defRPr>
            </a:pPr>
            <a:r>
              <a:t>WEB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886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0A0A0A"/>
                </a:solidFill>
                <a:latin typeface="Microsoft YaHei"/>
              </a:defRPr>
            </a:pPr>
            <a:r>
              <a:t>Web 搜索取回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3434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002FA7"/>
                </a:solidFill>
                <a:latin typeface="Consolas"/>
              </a:defRPr>
            </a:pPr>
            <a:r>
              <a:t>Claude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29200"/>
            <a:ext cx="109728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0">
                <a:solidFill>
                  <a:srgbClr val="002FA7"/>
                </a:solidFill>
                <a:latin typeface="Microsoft YaHei"/>
              </a:defRPr>
            </a:pPr>
            <a:r>
              <a:t>各有千秋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737373"/>
                </a:solidFill>
                <a:latin typeface="Consolas"/>
              </a:defRPr>
            </a:pPr>
            <a:r>
              <a:t>没有全能的工具 · 只有合适的工具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Conclusion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Consolas"/>
              </a:defRPr>
            </a:pPr>
            <a: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  <a:defRPr sz="4400" b="0">
                <a:solidFill>
                  <a:srgbClr val="FFFFFF"/>
                </a:solidFill>
                <a:latin typeface="Microsoft YaHei"/>
              </a:defRPr>
            </a:pPr>
            <a:r>
              <a:t>选工具</a:t>
            </a:r>
            <a:br/>
            <a:r>
              <a:t>不是选模型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模型能力差距正在缩小,真正的差异化在于工具链设计哲学和工作流适配度。Claude Code 适合需要精细控制和安全保障的团队;Codex 适合追求自动化程度和云原生体验的团队。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t>理解差异,才能做出正确选择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CCCCFF"/>
                </a:solidFill>
                <a:latin typeface="Consolas"/>
              </a:defRPr>
            </a:pPr>
            <a:r>
              <a:t>UNDERSTAND THE DIFFERENCE, MAKE THE RIGHT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CCCCFF"/>
                </a:solidFill>
                <a:latin typeface="Consolas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CCCCFF"/>
                </a:solidFill>
                <a:latin typeface="Consolas"/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CCCCFF"/>
                </a:solidFill>
                <a:latin typeface="Consolas"/>
              </a:defRPr>
            </a:pPr>
            <a:r>
              <a:t>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Choose</a:t>
            </a:r>
            <a:br/>
            <a:r>
              <a:t>the workflow</a:t>
            </a:r>
            <a:br/>
            <a:r>
              <a:t>not the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300" b="0">
                <a:solidFill>
                  <a:srgbClr val="CCCCFF"/>
                </a:solidFill>
                <a:latin typeface="Microsoft YaHei"/>
              </a:defRPr>
            </a:pPr>
            <a:r>
              <a:t>工具为你服务,而非你为工具服务.</a:t>
            </a:r>
            <a:br/>
            <a:r>
              <a:t>理解差异,根据团队工作流做出选择.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69280"/>
            <a:ext cx="5029200" cy="12700"/>
          </a:xfrm>
          <a:prstGeom prst="rect">
            <a:avLst/>
          </a:prstGeom>
          <a:solidFill>
            <a:srgbClr val="55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AAAADD"/>
                </a:solidFill>
                <a:latin typeface="Consolas"/>
              </a:defRPr>
            </a:pPr>
            <a:r>
              <a:t>内部技术分享  ·  2026.05.13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737373"/>
                </a:solidFill>
                <a:latin typeface="Consolas"/>
              </a:defRPr>
            </a:pPr>
            <a:r>
              <a:t>03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0292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400" b="0">
                <a:solidFill>
                  <a:srgbClr val="0A0A0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A0A0A"/>
                </a:solidFill>
                <a:latin typeface="Microsoft YaHei"/>
              </a:defRPr>
            </a:pPr>
            <a:r>
              <a:t>先理解工作流,再选工具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你的团队需要精细控制还是高度自动化?</a:t>
            </a:r>
            <a:br/>
            <a:r>
              <a:t>答案决定了应该选谁.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017520"/>
            <a:ext cx="50292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400" b="0">
                <a:solidFill>
                  <a:srgbClr val="0A0A0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A0A0A"/>
                </a:solidFill>
                <a:latin typeface="Microsoft YaHei"/>
              </a:defRPr>
            </a:pPr>
            <a:r>
              <a:t>关注生态,不只是模型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Skills / MCP / Hooks 的生态网络,</a:t>
            </a:r>
            <a:br/>
            <a:r>
              <a:t>比单次 benchmark 跑分更重要.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0292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  <a:defRPr sz="2400" b="0">
                <a:solidFill>
                  <a:srgbClr val="002FA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002FA7"/>
                </a:solidFill>
                <a:latin typeface="Microsoft YaHei"/>
              </a:defRPr>
            </a:pPr>
            <a:r>
              <a:t>两者可以共存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166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0">
                <a:solidFill>
                  <a:srgbClr val="737373"/>
                </a:solidFill>
                <a:latin typeface="Microsoft YaHei"/>
              </a:defRPr>
            </a:pPr>
            <a:r>
              <a:t>不同场景用不同工具:</a:t>
            </a:r>
            <a:br/>
            <a:r>
              <a:t>Claude Code 做架构设计, Codex 做快速原型.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6035040"/>
            <a:ext cx="502920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6217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  <a:defRPr sz="1000" b="0">
                <a:solidFill>
                  <a:srgbClr val="737373"/>
                </a:solidFill>
                <a:latin typeface="Consolas"/>
              </a:defRPr>
            </a:pPr>
            <a:r>
              <a:t>→ 完 · END OF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